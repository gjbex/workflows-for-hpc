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39" r:id="rId95"/>
    <p:sldId id="258" r:id="rId96"/>
    <p:sldId id="259" r:id="rId97"/>
    <p:sldId id="260" r:id="rId98"/>
    <p:sldId id="261" r:id="rId99"/>
    <p:sldId id="262" r:id="rId100"/>
    <p:sldId id="263" r:id="rId101"/>
    <p:sldId id="264" r:id="rId102"/>
    <p:sldId id="265" r:id="rId103"/>
    <p:sldId id="266" r:id="rId104"/>
    <p:sldId id="440" r:id="rId105"/>
    <p:sldId id="441" r:id="rId10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  <p14:sldId id="439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execution time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128</c:v>
                </c:pt>
                <c:pt idx="1">
                  <c:v>64</c:v>
                </c:pt>
                <c:pt idx="2">
                  <c:v>32</c:v>
                </c:pt>
                <c:pt idx="3">
                  <c:v>16</c:v>
                </c:pt>
                <c:pt idx="4">
                  <c:v>8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3E5-480B-8B3C-9252F6D9AB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5945232"/>
        <c:axId val="364845800"/>
      </c:scatterChart>
      <c:valAx>
        <c:axId val="405945232"/>
        <c:scaling>
          <c:logBase val="2"/>
          <c:orientation val="minMax"/>
          <c:max val="128"/>
        </c:scaling>
        <c:delete val="0"/>
        <c:axPos val="b"/>
        <c:numFmt formatCode="General" sourceLinked="1"/>
        <c:majorTickMark val="out"/>
        <c:minorTickMark val="none"/>
        <c:tickLblPos val="nextTo"/>
        <c:crossAx val="364845800"/>
        <c:crosses val="autoZero"/>
        <c:crossBetween val="midCat"/>
        <c:majorUnit val="4"/>
        <c:minorUnit val="4"/>
      </c:valAx>
      <c:valAx>
        <c:axId val="364845800"/>
        <c:scaling>
          <c:logBase val="2"/>
          <c:orientation val="minMax"/>
          <c:max val="128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5945232"/>
        <c:crosses val="autoZero"/>
        <c:crossBetween val="midCat"/>
        <c:majorUnit val="4"/>
        <c:min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serial 0.1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D7C-4A0C-9B7D-1C98B6D53D6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serial 0.01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Sheet1!$D$2:$D$9</c:f>
              <c:numCache>
                <c:formatCode>General</c:formatCode>
                <c:ptCount val="8"/>
                <c:pt idx="0">
                  <c:v>1</c:v>
                </c:pt>
                <c:pt idx="1">
                  <c:v>1.9801980198019802</c:v>
                </c:pt>
                <c:pt idx="2">
                  <c:v>3.883495145631068</c:v>
                </c:pt>
                <c:pt idx="3">
                  <c:v>7.4766355140186915</c:v>
                </c:pt>
                <c:pt idx="4">
                  <c:v>13.913043478260871</c:v>
                </c:pt>
                <c:pt idx="5">
                  <c:v>24.427480916030532</c:v>
                </c:pt>
                <c:pt idx="6">
                  <c:v>39.263803680981596</c:v>
                </c:pt>
                <c:pt idx="7">
                  <c:v>56.387665198237883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D7C-4A0C-9B7D-1C98B6D53D61}"/>
            </c:ext>
          </c:extLst>
        </c:ser>
        <c:ser>
          <c:idx val="3"/>
          <c:order val="2"/>
          <c:tx>
            <c:strRef>
              <c:f>Sheet1!$E$1</c:f>
              <c:strCache>
                <c:ptCount val="1"/>
                <c:pt idx="0">
                  <c:v>serial 0.001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Sheet1!$E$2:$E$9</c:f>
              <c:numCache>
                <c:formatCode>General</c:formatCode>
                <c:ptCount val="8"/>
                <c:pt idx="0">
                  <c:v>1</c:v>
                </c:pt>
                <c:pt idx="1">
                  <c:v>1.9980019980019983</c:v>
                </c:pt>
                <c:pt idx="2">
                  <c:v>3.9880358923230315</c:v>
                </c:pt>
                <c:pt idx="3">
                  <c:v>7.9443892750744798</c:v>
                </c:pt>
                <c:pt idx="4">
                  <c:v>15.763546798029559</c:v>
                </c:pt>
                <c:pt idx="5">
                  <c:v>31.037827352085358</c:v>
                </c:pt>
                <c:pt idx="6">
                  <c:v>60.206961429915339</c:v>
                </c:pt>
                <c:pt idx="7">
                  <c:v>113.57586512866015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2D7C-4A0C-9B7D-1C98B6D53D61}"/>
            </c:ext>
          </c:extLst>
        </c:ser>
        <c:ser>
          <c:idx val="4"/>
          <c:order val="3"/>
          <c:tx>
            <c:strRef>
              <c:f>Sheet1!$F$1</c:f>
              <c:strCache>
                <c:ptCount val="1"/>
                <c:pt idx="0">
                  <c:v>perfect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Sheet1!$F$2:$F$9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D7C-4A0C-9B7D-1C98B6D53D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4846584"/>
        <c:axId val="406701416"/>
      </c:scatterChart>
      <c:valAx>
        <c:axId val="364846584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06701416"/>
        <c:crosses val="autoZero"/>
        <c:crossBetween val="midCat"/>
        <c:majorUnit val="4"/>
        <c:minorUnit val="4"/>
      </c:valAx>
      <c:valAx>
        <c:axId val="406701416"/>
        <c:scaling>
          <c:logBase val="2"/>
          <c:orientation val="minMax"/>
          <c:max val="128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64846584"/>
        <c:crosses val="autoZero"/>
        <c:crossBetween val="midCat"/>
        <c:majorUnit val="4"/>
        <c:minorUnit val="4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E35-4040-8010-52910994EC6C}"/>
            </c:ext>
          </c:extLst>
        </c:ser>
        <c:ser>
          <c:idx val="1"/>
          <c:order val="1"/>
          <c:tx>
            <c:strRef>
              <c:f>Sheet1!$H$1</c:f>
              <c:strCache>
                <c:ptCount val="1"/>
                <c:pt idx="0">
                  <c:v>Amdahl's law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Sheet1!$H$2:$H$9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E35-4040-8010-52910994EC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6696712"/>
        <c:axId val="359173032"/>
      </c:scatterChart>
      <c:valAx>
        <c:axId val="40669671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359173032"/>
        <c:crosses val="autoZero"/>
        <c:crossBetween val="midCat"/>
        <c:minorUnit val="4"/>
      </c:valAx>
      <c:valAx>
        <c:axId val="359173032"/>
        <c:scaling>
          <c:logBase val="2"/>
          <c:orientation val="minMax"/>
          <c:max val="10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6696712"/>
        <c:crosses val="autoZero"/>
        <c:crossBetween val="midCat"/>
        <c:majorUnit val="2"/>
        <c:minorUnit val="2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65D-4592-BED5-D346B11B7D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97906800"/>
        <c:axId val="419185240"/>
      </c:scatterChart>
      <c:valAx>
        <c:axId val="297906800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5240"/>
        <c:crosses val="autoZero"/>
        <c:crossBetween val="midCat"/>
        <c:majorUnit val="4"/>
      </c:valAx>
      <c:valAx>
        <c:axId val="419185240"/>
        <c:scaling>
          <c:logBase val="2"/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97906800"/>
        <c:crosses val="autoZero"/>
        <c:crossBetween val="midCat"/>
        <c:maj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efficiency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Sheet1!$I$2:$I$9</c:f>
              <c:numCache>
                <c:formatCode>General</c:formatCode>
                <c:ptCount val="8"/>
                <c:pt idx="0">
                  <c:v>1</c:v>
                </c:pt>
                <c:pt idx="1">
                  <c:v>0.9045567992660748</c:v>
                </c:pt>
                <c:pt idx="2">
                  <c:v>0.7577784150792789</c:v>
                </c:pt>
                <c:pt idx="3">
                  <c:v>0.56800318603386257</c:v>
                </c:pt>
                <c:pt idx="4">
                  <c:v>0.37109739453142115</c:v>
                </c:pt>
                <c:pt idx="5">
                  <c:v>0.20888175060575936</c:v>
                </c:pt>
                <c:pt idx="6">
                  <c:v>9.9971078666994076E-2</c:v>
                </c:pt>
                <c:pt idx="7">
                  <c:v>3.8681422504932006E-2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B82-4843-941A-D5D0F867AB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183672"/>
        <c:axId val="419189552"/>
      </c:scatterChart>
      <c:valAx>
        <c:axId val="41918367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9552"/>
        <c:crosses val="autoZero"/>
        <c:crossBetween val="midCat"/>
        <c:majorUnit val="4"/>
        <c:minorUnit val="4"/>
      </c:valAx>
      <c:valAx>
        <c:axId val="419189552"/>
        <c:scaling>
          <c:orientation val="minMax"/>
          <c:max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191836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10/31/2025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10/31/2025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10/31/2025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10/31/2025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10/31/2025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10/31/2025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10/31/2025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atools.readthedocs.io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bit.ly/2qh9kGK" TargetMode="Externa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wmf"/><Relationship Id="rId4" Type="http://schemas.openxmlformats.org/officeDocument/2006/relationships/oleObject" Target="../embeddings/oleObject2.bin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BE29A-27A3-AC41-EAC1-DA88C291B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6101133" cy="103078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(0–7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162690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986158" y="3996094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794898"/>
            <a:ext cx="1162690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CLUSTER: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wice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3238731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977467"/>
            <a:chOff x="7704794" y="5153031"/>
            <a:chExt cx="4618880" cy="97746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41383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253213"/>
            <a:chOff x="-511628" y="3238731"/>
            <a:chExt cx="11050571" cy="425321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2473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'\b\d+\b'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  <a:p>
              <a:pPr>
                <a:defRPr/>
              </a:pP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--cluster=$SLURM_CLUSTER_NAME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3810000" y="5892463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endParaRPr lang="fr-BE" b="0" i="0" dirty="0">
              <a:solidFill>
                <a:srgbClr val="46545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fr-BE" dirty="0">
                <a:solidFill>
                  <a:srgbClr val="46545C"/>
                </a:solidFill>
                <a:cs typeface="Courier New" panose="02070309020205020404" pitchFamily="49" charset="0"/>
              </a:rPr>
              <a:t>User </a:t>
            </a:r>
            <a:r>
              <a:rPr lang="fr-BE" dirty="0" err="1">
                <a:solidFill>
                  <a:srgbClr val="46545C"/>
                </a:solidFill>
                <a:cs typeface="Courier New" panose="02070309020205020404" pitchFamily="49" charset="0"/>
              </a:rPr>
              <a:t>limit</a:t>
            </a:r>
            <a:r>
              <a:rPr lang="fr-BE" dirty="0">
                <a:solidFill>
                  <a:srgbClr val="46545C"/>
                </a:solidFill>
                <a:cs typeface="Courier New" panose="02070309020205020404" pitchFamily="49" charset="0"/>
              </a:rPr>
              <a:t>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3219669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missing files (failed items)</a:t>
            </a:r>
          </a:p>
          <a:p>
            <a:pPr lvl="1"/>
            <a:r>
              <a:rPr lang="en-US" dirty="0"/>
              <a:t>incomplete data (failed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jobs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3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4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B0816EB-FAE6-E2F1-4104-197C7C6FC6FD}"/>
              </a:ext>
            </a:extLst>
          </p:cNvPr>
          <p:cNvGrpSpPr/>
          <p:nvPr/>
        </p:nvGrpSpPr>
        <p:grpSpPr>
          <a:xfrm>
            <a:off x="1475013" y="1431568"/>
            <a:ext cx="8327573" cy="2471050"/>
            <a:chOff x="1932213" y="1594016"/>
            <a:chExt cx="8327573" cy="2471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B576FD1C-1B63-F40F-BD11-78C5CC323A8A}"/>
                </a:ext>
              </a:extLst>
            </p:cNvPr>
            <p:cNvSpPr/>
            <p:nvPr/>
          </p:nvSpPr>
          <p:spPr>
            <a:xfrm>
              <a:off x="1932213" y="159401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Create </a:t>
              </a:r>
              <a:r>
                <a:rPr lang="en-US" dirty="0" err="1"/>
                <a:t>conda</a:t>
              </a:r>
              <a:r>
                <a:rPr lang="en-US" dirty="0"/>
                <a:t> environment</a:t>
              </a:r>
              <a:endParaRPr lang="LID4096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7FEB810-418E-5C2E-27EE-8EAC613CB2A9}"/>
                </a:ext>
              </a:extLst>
            </p:cNvPr>
            <p:cNvSpPr/>
            <p:nvPr/>
          </p:nvSpPr>
          <p:spPr>
            <a:xfrm>
              <a:off x="1932213" y="315066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D2BA561-A1D7-3C42-01CF-EA19832EA2FC}"/>
                </a:ext>
              </a:extLst>
            </p:cNvPr>
            <p:cNvSpPr/>
            <p:nvPr/>
          </p:nvSpPr>
          <p:spPr>
            <a:xfrm>
              <a:off x="5143500" y="239955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D12BD25-0E49-3986-568B-5F689BC9D188}"/>
                </a:ext>
              </a:extLst>
            </p:cNvPr>
            <p:cNvSpPr/>
            <p:nvPr/>
          </p:nvSpPr>
          <p:spPr>
            <a:xfrm>
              <a:off x="8572500" y="239955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Postprocess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819FD8F2-5D24-F43F-219F-0C332C84751B}"/>
                </a:ext>
              </a:extLst>
            </p:cNvPr>
            <p:cNvSpPr/>
            <p:nvPr/>
          </p:nvSpPr>
          <p:spPr>
            <a:xfrm>
              <a:off x="7101362" y="2595146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7855F3F-DA09-1793-A106-DDB1A3EE5C55}"/>
                </a:ext>
              </a:extLst>
            </p:cNvPr>
            <p:cNvSpPr/>
            <p:nvPr/>
          </p:nvSpPr>
          <p:spPr>
            <a:xfrm rot="1221803">
              <a:off x="3781219" y="2041676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B5959290-F9DC-5B27-8975-6C39613CDEBA}"/>
                </a:ext>
              </a:extLst>
            </p:cNvPr>
            <p:cNvSpPr/>
            <p:nvPr/>
          </p:nvSpPr>
          <p:spPr>
            <a:xfrm rot="20378197" flipV="1">
              <a:off x="3781220" y="3005744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1" y="2449191"/>
            <a:ext cx="10134149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10134149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5894685"/>
            <a:ext cx="10134149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</a:t>
            </a:r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</a:t>
            </a:r>
          </a:p>
          <a:p>
            <a:pPr lvl="1"/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for scaling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Scaling considered in two dimensions</a:t>
            </a:r>
          </a:p>
          <a:p>
            <a:pPr lvl="1"/>
            <a:r>
              <a:rPr lang="en-US" dirty="0"/>
              <a:t>solve same problem faster by using more resources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solve larger problem by using more resources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4906590" y="4488158"/>
            <a:ext cx="251722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Weak scaling</a:t>
            </a:r>
            <a:endParaRPr lang="nl-BE" sz="3200" dirty="0"/>
          </a:p>
        </p:txBody>
      </p:sp>
      <p:sp>
        <p:nvSpPr>
          <p:cNvPr id="5" name="TextBox 4"/>
          <p:cNvSpPr txBox="1"/>
          <p:nvPr/>
        </p:nvSpPr>
        <p:spPr>
          <a:xfrm>
            <a:off x="4906591" y="2947528"/>
            <a:ext cx="26756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Strong scaling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1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hope/expect for…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strong scaling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weak scaling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975511" y="2348881"/>
            <a:ext cx="4056593" cy="1992869"/>
            <a:chOff x="1444853" y="2348880"/>
            <a:chExt cx="5874943" cy="3773836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1907703" y="2348880"/>
            <a:ext cx="5412093" cy="324725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3995937" y="5212426"/>
              <a:ext cx="2193207" cy="6993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147890" y="4290869"/>
              <a:ext cx="3128810" cy="5348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</a:t>
              </a:r>
              <a:endParaRPr lang="nl-BE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143673" y="5517232"/>
            <a:ext cx="3218685" cy="648072"/>
            <a:chOff x="1979712" y="5589240"/>
            <a:chExt cx="3218685" cy="648072"/>
          </a:xfrm>
        </p:grpSpPr>
        <p:sp>
          <p:nvSpPr>
            <p:cNvPr id="9" name="TextBox 8"/>
            <p:cNvSpPr txBox="1"/>
            <p:nvPr/>
          </p:nvSpPr>
          <p:spPr>
            <a:xfrm>
              <a:off x="1979712" y="5733256"/>
              <a:ext cx="18253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 </a:t>
              </a:r>
              <a:r>
                <a:rPr lang="en-US" dirty="0">
                  <a:sym typeface="Symbol"/>
                </a:rPr>
                <a:t>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30243" y="5589240"/>
              <a:ext cx="13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system size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84008" y="5867980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cxnSp>
          <p:nvCxnSpPr>
            <p:cNvPr id="13" name="Straight Connector 12"/>
            <p:cNvCxnSpPr/>
            <p:nvPr/>
          </p:nvCxnSpPr>
          <p:spPr>
            <a:xfrm>
              <a:off x="3707904" y="5948181"/>
              <a:ext cx="136815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7752185" y="4347102"/>
            <a:ext cx="19998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Is this going</a:t>
            </a:r>
          </a:p>
          <a:p>
            <a:r>
              <a:rPr lang="en-US" sz="2800" dirty="0"/>
              <a:t>to happen?</a:t>
            </a:r>
            <a:endParaRPr lang="nl-BE" sz="28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33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Parallel speedup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𝑆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Ideally,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Parallel efficiency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/>
                      </a:rPr>
                      <m:t>𝐸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endParaRPr lang="en-US" dirty="0"/>
              </a:p>
              <a:p>
                <a:pPr lvl="1"/>
                <a:r>
                  <a:rPr lang="en-US" dirty="0"/>
                  <a:t>Ideally,</a:t>
                </a:r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61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)=1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252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scaling: oops!?!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Some parts of a program </a:t>
                </a:r>
                <a:r>
                  <a:rPr lang="en-US" dirty="0" err="1"/>
                  <a:t>can not</a:t>
                </a:r>
                <a:r>
                  <a:rPr lang="en-US" dirty="0"/>
                  <a:t> be parallelized (effectively)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ut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also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even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→∞</m:t>
                    </m:r>
                  </m:oMath>
                </a14:m>
                <a:r>
                  <a:rPr lang="en-US" dirty="0"/>
                  <a:t> one has</a:t>
                </a:r>
                <a:br>
                  <a:rPr lang="en-US" dirty="0"/>
                </a:b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/>
                      </a:rPr>
                      <m:t>=1+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6888089" y="2780929"/>
            <a:ext cx="3606949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Hard limit on speedup</a:t>
            </a:r>
            <a:br>
              <a:rPr lang="en-US" sz="2800" dirty="0"/>
            </a:br>
            <a:r>
              <a:rPr lang="en-US" sz="2800" dirty="0"/>
              <a:t>due to serial part:</a:t>
            </a:r>
            <a:br>
              <a:rPr lang="en-US" sz="2800" dirty="0"/>
            </a:br>
            <a:r>
              <a:rPr lang="en-US" sz="2800" dirty="0"/>
              <a:t>Amdahl's law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909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Amdahl's law</a:t>
            </a:r>
            <a:endParaRPr lang="nl-BE" dirty="0"/>
          </a:p>
        </p:txBody>
      </p:sp>
      <p:grpSp>
        <p:nvGrpSpPr>
          <p:cNvPr id="9" name="Group 8"/>
          <p:cNvGrpSpPr/>
          <p:nvPr/>
        </p:nvGrpSpPr>
        <p:grpSpPr>
          <a:xfrm>
            <a:off x="3431706" y="2057400"/>
            <a:ext cx="4950294" cy="3109084"/>
            <a:chOff x="1907706" y="2057400"/>
            <a:chExt cx="4950294" cy="3109084"/>
          </a:xfrm>
        </p:grpSpPr>
        <p:sp>
          <p:nvSpPr>
            <p:cNvPr id="4" name="TextBox 3"/>
            <p:cNvSpPr txBox="1"/>
            <p:nvPr/>
          </p:nvSpPr>
          <p:spPr>
            <a:xfrm>
              <a:off x="3491880" y="4797152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1563220" y="3220278"/>
              <a:ext cx="10583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2286000" y="2057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=0</m:t>
                          </m:r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443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It gets worse…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Overhead!</a:t>
            </a:r>
          </a:p>
          <a:p>
            <a:pPr lvl="1"/>
            <a:r>
              <a:rPr lang="en-US" dirty="0"/>
              <a:t>communication takes time</a:t>
            </a:r>
          </a:p>
          <a:p>
            <a:pPr lvl="2"/>
            <a:r>
              <a:rPr lang="en-US" dirty="0"/>
              <a:t>finite bandwidth</a:t>
            </a:r>
          </a:p>
          <a:p>
            <a:pPr lvl="2"/>
            <a:r>
              <a:rPr lang="en-US" dirty="0"/>
              <a:t>non-zero latency</a:t>
            </a:r>
          </a:p>
          <a:p>
            <a:pPr lvl="1"/>
            <a:r>
              <a:rPr lang="en-US" dirty="0"/>
              <a:t>resource contention</a:t>
            </a:r>
          </a:p>
          <a:p>
            <a:pPr lvl="2"/>
            <a:r>
              <a:rPr lang="en-US" dirty="0"/>
              <a:t>memory subsystem: L3 cache, RAM, QPI</a:t>
            </a:r>
          </a:p>
          <a:p>
            <a:pPr lvl="2"/>
            <a:r>
              <a:rPr lang="en-US" dirty="0"/>
              <a:t>network access</a:t>
            </a:r>
            <a:endParaRPr lang="nl-BE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597116C-F94B-4B5B-973A-17F07FB5C418}" type="slidenum">
              <a:rPr lang="nl-BE" smtClean="0"/>
              <a:pPr/>
              <a:t>99</a:t>
            </a:fld>
            <a:endParaRPr lang="nl-BE"/>
          </a:p>
        </p:txBody>
      </p:sp>
      <p:grpSp>
        <p:nvGrpSpPr>
          <p:cNvPr id="7" name="Group 6"/>
          <p:cNvGrpSpPr/>
          <p:nvPr/>
        </p:nvGrpSpPr>
        <p:grpSpPr>
          <a:xfrm>
            <a:off x="7056989" y="2355575"/>
            <a:ext cx="4788022" cy="2972073"/>
            <a:chOff x="4139954" y="2780928"/>
            <a:chExt cx="4788022" cy="2972073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355976" y="2780928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5868144" y="5445224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3861673" y="3649267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696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Picking the sweet spot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115815" y="1844825"/>
            <a:ext cx="4039684" cy="2540025"/>
            <a:chOff x="591815" y="1844824"/>
            <a:chExt cx="4039684" cy="2540025"/>
          </a:xfrm>
        </p:grpSpPr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899592" y="1844824"/>
            <a:ext cx="3731907" cy="223914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6"/>
            <p:cNvSpPr txBox="1"/>
            <p:nvPr/>
          </p:nvSpPr>
          <p:spPr>
            <a:xfrm>
              <a:off x="2339752" y="4077072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8" name="TextBox 7"/>
            <p:cNvSpPr txBox="1"/>
            <p:nvPr/>
          </p:nvSpPr>
          <p:spPr>
            <a:xfrm rot="16200000">
              <a:off x="313534" y="2724574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734472" y="3861049"/>
            <a:ext cx="4682008" cy="2828057"/>
            <a:chOff x="4120208" y="3861048"/>
            <a:chExt cx="4682008" cy="2828057"/>
          </a:xfrm>
        </p:grpSpPr>
        <p:graphicFrame>
          <p:nvGraphicFramePr>
            <p:cNvPr id="5" name="Chart 4"/>
            <p:cNvGraphicFramePr>
              <a:graphicFrameLocks/>
            </p:cNvGraphicFramePr>
            <p:nvPr/>
          </p:nvGraphicFramePr>
          <p:xfrm>
            <a:off x="4499992" y="3861048"/>
            <a:ext cx="4302224" cy="258133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9" name="TextBox 8"/>
            <p:cNvSpPr txBox="1"/>
            <p:nvPr/>
          </p:nvSpPr>
          <p:spPr>
            <a:xfrm>
              <a:off x="6400431" y="6381328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 rot="16200000">
              <a:off x="3804481" y="4867361"/>
              <a:ext cx="939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efficiency</a:t>
              </a:r>
              <a:endParaRPr lang="nl-BE" sz="1400" dirty="0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159897" y="1556792"/>
            <a:ext cx="3452123" cy="523220"/>
            <a:chOff x="3635896" y="1556792"/>
            <a:chExt cx="3452123" cy="523220"/>
          </a:xfrm>
        </p:grpSpPr>
        <p:sp>
          <p:nvSpPr>
            <p:cNvPr id="13" name="TextBox 12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sweet spot</a:t>
              </a:r>
              <a:endParaRPr lang="nl-BE" sz="2800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3" idx="1"/>
            </p:cNvCxnSpPr>
            <p:nvPr/>
          </p:nvCxnSpPr>
          <p:spPr>
            <a:xfrm flipH="1">
              <a:off x="3635896" y="1818402"/>
              <a:ext cx="1584176" cy="26161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6096000" y="4725144"/>
            <a:ext cx="4320480" cy="1296144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18" name="Group 17"/>
          <p:cNvGrpSpPr/>
          <p:nvPr/>
        </p:nvGrpSpPr>
        <p:grpSpPr>
          <a:xfrm>
            <a:off x="7630501" y="2905780"/>
            <a:ext cx="2449020" cy="1603340"/>
            <a:chOff x="4638999" y="1556792"/>
            <a:chExt cx="2449020" cy="1603340"/>
          </a:xfrm>
        </p:grpSpPr>
        <p:sp>
          <p:nvSpPr>
            <p:cNvPr id="19" name="TextBox 18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sweet spot</a:t>
              </a:r>
              <a:endParaRPr lang="nl-BE" sz="2800" dirty="0">
                <a:solidFill>
                  <a:srgbClr val="00B050"/>
                </a:solidFill>
              </a:endParaRPr>
            </a:p>
          </p:txBody>
        </p:sp>
        <p:cxnSp>
          <p:nvCxnSpPr>
            <p:cNvPr id="20" name="Straight Arrow Connector 19"/>
            <p:cNvCxnSpPr>
              <a:stCxn id="19" idx="2"/>
            </p:cNvCxnSpPr>
            <p:nvPr/>
          </p:nvCxnSpPr>
          <p:spPr>
            <a:xfrm flipH="1">
              <a:off x="4638999" y="2080012"/>
              <a:ext cx="1515047" cy="108012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6901646" y="1709192"/>
            <a:ext cx="1615284" cy="360040"/>
            <a:chOff x="744214" y="1349152"/>
            <a:chExt cx="1615284" cy="36004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899592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744214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37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scaling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</p:spPr>
            <p:txBody>
              <a:bodyPr/>
              <a:lstStyle/>
              <a:p>
                <a:r>
                  <a:rPr lang="en-US" dirty="0"/>
                  <a:t>Consider a system of "size"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now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is independent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r>
                  <a:rPr lang="en-US" dirty="0"/>
                  <a:t>, but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𝑁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now choose the number of processes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𝑐𝑁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  <a:ea typeface="Cambria Math"/>
                      </a:rPr>
                      <m:t>~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  <a:blipFill>
                <a:blip r:embed="rId2"/>
                <a:stretch>
                  <a:fillRect l="-1043" t="-360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Gustafson's law: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𝑁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(2</m:t>
                    </m:r>
                    <m:r>
                      <a:rPr lang="en-US" sz="2800" i="1">
                        <a:latin typeface="Cambria Math"/>
                      </a:rPr>
                      <m:t>𝑁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blipFill>
                <a:blip r:embed="rId3"/>
                <a:stretch>
                  <a:fillRect l="-2212" t="-11364" b="-2954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7957323" y="4833932"/>
            <a:ext cx="2016065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Nice for</a:t>
            </a:r>
            <a:br>
              <a:rPr lang="en-US" sz="3200" dirty="0"/>
            </a:br>
            <a:r>
              <a:rPr lang="en-US" sz="3200" dirty="0"/>
              <a:t>scientists!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19421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love Gustafson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Scientist are interested in</a:t>
            </a:r>
          </a:p>
          <a:p>
            <a:pPr lvl="1"/>
            <a:r>
              <a:rPr lang="en-US" dirty="0"/>
              <a:t>studying larger systems/bigger data sets</a:t>
            </a:r>
          </a:p>
          <a:p>
            <a:pPr lvl="1"/>
            <a:r>
              <a:rPr lang="en-US" dirty="0"/>
              <a:t>increasing precision/resolution</a:t>
            </a:r>
          </a:p>
          <a:p>
            <a:pPr lvl="1"/>
            <a:r>
              <a:rPr lang="en-US" dirty="0"/>
              <a:t>more complex phenomena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8981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N</a:t>
            </a:r>
            <a:r>
              <a:rPr lang="en-US" dirty="0"/>
              <a:t> independent tasks</a:t>
            </a:r>
          </a:p>
          <a:p>
            <a:r>
              <a:rPr lang="en-US" dirty="0"/>
              <a:t>Total number of cores </a:t>
            </a:r>
            <a:r>
              <a:rPr lang="en-US" i="1" dirty="0"/>
              <a:t>n</a:t>
            </a:r>
            <a:r>
              <a:rPr lang="en-US" dirty="0"/>
              <a:t> &lt;&lt; </a:t>
            </a:r>
            <a:r>
              <a:rPr lang="en-US" i="1" dirty="0"/>
              <a:t>N</a:t>
            </a:r>
          </a:p>
          <a:p>
            <a:r>
              <a:rPr lang="en-US" dirty="0"/>
              <a:t>Execution time single task, 1 thread: </a:t>
            </a:r>
            <a:r>
              <a:rPr lang="en-US" i="1" dirty="0"/>
              <a:t>t</a:t>
            </a:r>
            <a:r>
              <a:rPr lang="en-US" baseline="-25000" dirty="0"/>
              <a:t>1</a:t>
            </a:r>
          </a:p>
          <a:p>
            <a:r>
              <a:rPr lang="en-US" dirty="0"/>
              <a:t>Execution time single task, </a:t>
            </a:r>
            <a:r>
              <a:rPr lang="en-US" i="1" dirty="0"/>
              <a:t>n</a:t>
            </a:r>
            <a:r>
              <a:rPr lang="en-US" dirty="0"/>
              <a:t> threads: </a:t>
            </a:r>
            <a:r>
              <a:rPr lang="en-US" i="1" dirty="0" err="1"/>
              <a:t>t</a:t>
            </a:r>
            <a:r>
              <a:rPr lang="en-US" i="1" baseline="-25000" dirty="0" err="1"/>
              <a:t>n</a:t>
            </a:r>
            <a:endParaRPr lang="en-US" dirty="0"/>
          </a:p>
          <a:p>
            <a:r>
              <a:rPr lang="en-US" dirty="0"/>
              <a:t>Multithreading or not?</a:t>
            </a:r>
          </a:p>
        </p:txBody>
      </p:sp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1919536" y="4552763"/>
          <a:ext cx="1851796" cy="8969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520" imgH="393480" progId="Equation.3">
                  <p:embed/>
                </p:oleObj>
              </mc:Choice>
              <mc:Fallback>
                <p:oleObj name="Equation" r:id="rId2" imgW="812520" imgH="393480" progId="Equation.3">
                  <p:embed/>
                  <p:pic>
                    <p:nvPicPr>
                      <p:cNvPr id="17" name="Object 16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919536" y="4552763"/>
                        <a:ext cx="1851796" cy="8969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8"/>
          <p:cNvGraphicFramePr>
            <a:graphicFrameLocks noChangeAspect="1"/>
          </p:cNvGraphicFramePr>
          <p:nvPr/>
        </p:nvGraphicFramePr>
        <p:xfrm>
          <a:off x="4699001" y="4508500"/>
          <a:ext cx="5673725" cy="984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040" imgH="431640" progId="Equation.3">
                  <p:embed/>
                </p:oleObj>
              </mc:Choice>
              <mc:Fallback>
                <p:oleObj name="Equation" r:id="rId4" imgW="2489040" imgH="431640" progId="Equation.3">
                  <p:embed/>
                  <p:pic>
                    <p:nvPicPr>
                      <p:cNvPr id="19" name="Object 1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699001" y="4508500"/>
                        <a:ext cx="5673725" cy="984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799857" y="5775648"/>
            <a:ext cx="27592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However: memory?</a:t>
            </a:r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9643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5750</Words>
  <Application>Microsoft Office PowerPoint</Application>
  <PresentationFormat>Widescreen</PresentationFormat>
  <Paragraphs>1258</Paragraphs>
  <Slides>105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14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Equation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Dimensions for scaling</vt:lpstr>
      <vt:lpstr>What you hope/expect for…</vt:lpstr>
      <vt:lpstr>Definitions</vt:lpstr>
      <vt:lpstr>Strong scaling: oops!?!</vt:lpstr>
      <vt:lpstr>Amdahl's law</vt:lpstr>
      <vt:lpstr>It gets worse…</vt:lpstr>
      <vt:lpstr>Picking the sweet spot</vt:lpstr>
      <vt:lpstr>Weak scaling</vt:lpstr>
      <vt:lpstr>We love Gustafson</vt:lpstr>
      <vt:lpstr>Throughput computing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95</cp:revision>
  <dcterms:created xsi:type="dcterms:W3CDTF">2025-01-17T10:10:41Z</dcterms:created>
  <dcterms:modified xsi:type="dcterms:W3CDTF">2025-10-31T08:46:28Z</dcterms:modified>
</cp:coreProperties>
</file>